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731520"/>
            <a:ext cx="1828800" cy="1828800"/>
          </a:xfrm>
          <a:prstGeom prst="ellipse">
            <a:avLst/>
          </a:prstGeom>
          <a:solidFill>
            <a:srgbClr val="276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1920240"/>
            <a:ext cx="1280160" cy="1280160"/>
          </a:xfrm>
          <a:prstGeom prst="ellipse">
            <a:avLst/>
          </a:prstGeom>
          <a:solidFill>
            <a:srgbClr val="20A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38160" y="2743200"/>
            <a:ext cx="914400" cy="914400"/>
          </a:xfrm>
          <a:prstGeom prst="ellipse">
            <a:avLst/>
          </a:prstGeom>
          <a:solidFill>
            <a:srgbClr val="F29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60120"/>
            <a:ext cx="69494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500" b="1">
                <a:solidFill>
                  <a:srgbClr val="20AEA4"/>
                </a:solidFill>
                <a:latin typeface="Aptos"/>
              </a:defRPr>
            </a:pPr>
            <a:r>
              <a:t>MERN STACK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7498079" cy="1417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"/>
              </a:defRPr>
            </a:pPr>
            <a:r>
              <a:t>ROAD DAMAGE</a:t>
            </a:r>
            <a:br/>
            <a:r>
              <a:t>REPORTING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6583680" cy="777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900" b="0">
                <a:solidFill>
                  <a:srgbClr val="DAE2EE"/>
                </a:solidFill>
                <a:latin typeface="Aptos"/>
              </a:defRPr>
            </a:pPr>
            <a:r>
              <a:t>A web application to report potholes and damaged roads with photos, location, and status tracking.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325880" cy="438912"/>
          </a:xfrm>
          <a:prstGeom prst="roundRect">
            <a:avLst/>
          </a:prstGeom>
          <a:solidFill>
            <a:srgbClr val="20A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55464"/>
            <a:ext cx="1234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MongoDB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4754880"/>
            <a:ext cx="1325880" cy="438912"/>
          </a:xfrm>
          <a:prstGeom prst="roundRect">
            <a:avLst/>
          </a:prstGeom>
          <a:solidFill>
            <a:srgbClr val="276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39" y="4855464"/>
            <a:ext cx="1234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Express.js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0" y="4754880"/>
            <a:ext cx="1325880" cy="438912"/>
          </a:xfrm>
          <a:prstGeom prst="roundRect">
            <a:avLst/>
          </a:prstGeom>
          <a:solidFill>
            <a:srgbClr val="509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86200" y="4855464"/>
            <a:ext cx="1234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React.js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9240" y="4754880"/>
            <a:ext cx="1325880" cy="438912"/>
          </a:xfrm>
          <a:prstGeom prst="roundRect">
            <a:avLst/>
          </a:prstGeom>
          <a:solidFill>
            <a:srgbClr val="F29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59" y="4855464"/>
            <a:ext cx="1234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Node.js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144768"/>
            <a:ext cx="62179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100" b="0">
                <a:solidFill>
                  <a:srgbClr val="B4C1D4"/>
                </a:solidFill>
                <a:latin typeface="Aptos"/>
              </a:defRPr>
            </a:pPr>
            <a:r>
              <a:t>Project Presentation • 10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88136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700" b="1">
                <a:solidFill>
                  <a:srgbClr val="111F39"/>
                </a:solidFill>
                <a:latin typeface="Aptos"/>
              </a:defRPr>
            </a:pPr>
            <a:r>
              <a:t>1. 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41832"/>
            <a:ext cx="914400" cy="54864"/>
          </a:xfrm>
          <a:prstGeom prst="rect">
            <a:avLst/>
          </a:prstGeom>
          <a:solidFill>
            <a:srgbClr val="20A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000" b="1">
                <a:solidFill>
                  <a:srgbClr val="5C6A7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4241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200" b="1">
                <a:solidFill>
                  <a:srgbClr val="111F39"/>
                </a:solidFill>
                <a:latin typeface="Aptos"/>
              </a:defRPr>
            </a:pPr>
            <a:r>
              <a:t>Road damage can affect safety, travel time, and vehicle maintenance.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10424160" cy="4480560"/>
          </a:xfrm>
          <a:prstGeom prst="rect">
            <a:avLst/>
          </a:prstGeom>
          <a:noFill/>
        </p:spPr>
        <p:txBody>
          <a:bodyPr wrap="square" lIns="45720" rIns="45720" bIns="18288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232D3C"/>
                </a:solidFill>
                <a:latin typeface="Aptos"/>
              </a:defRPr>
            </a:pPr>
            <a:r>
              <a:t>Potholes and damaged road surfaces may go unreported or take time to locate.</a:t>
            </a:r>
          </a:p>
          <a:p>
            <a:pPr>
              <a:spcAft>
                <a:spcPts val="1700"/>
              </a:spcAft>
              <a:defRPr sz="1900">
                <a:solidFill>
                  <a:srgbClr val="232D3C"/>
                </a:solidFill>
                <a:latin typeface="Aptos"/>
              </a:defRPr>
            </a:pPr>
            <a:r>
              <a:t>Reports shared through informal channels can be incomplete or difficult to track.</a:t>
            </a:r>
          </a:p>
          <a:p>
            <a:pPr>
              <a:spcAft>
                <a:spcPts val="1700"/>
              </a:spcAft>
              <a:defRPr sz="1900">
                <a:solidFill>
                  <a:srgbClr val="232D3C"/>
                </a:solidFill>
                <a:latin typeface="Aptos"/>
              </a:defRPr>
            </a:pPr>
            <a:r>
              <a:t>Authorities need clear details, photographs, and locations to prioritize repairs.</a:t>
            </a:r>
          </a:p>
          <a:p>
            <a:pPr>
              <a:spcAft>
                <a:spcPts val="1700"/>
              </a:spcAft>
              <a:defRPr sz="1900">
                <a:solidFill>
                  <a:srgbClr val="232D3C"/>
                </a:solidFill>
                <a:latin typeface="Aptos"/>
              </a:defRPr>
            </a:pPr>
            <a:r>
              <a:t>A centralized web system can make reporting and follow-up more organized.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88136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700" b="1">
                <a:solidFill>
                  <a:srgbClr val="111F39"/>
                </a:solidFill>
                <a:latin typeface="Aptos"/>
              </a:defRPr>
            </a:pPr>
            <a:r>
              <a:t>2. Project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41832"/>
            <a:ext cx="914400" cy="54864"/>
          </a:xfrm>
          <a:prstGeom prst="rect">
            <a:avLst/>
          </a:prstGeom>
          <a:solidFill>
            <a:srgbClr val="20A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000" b="1">
                <a:solidFill>
                  <a:srgbClr val="5C6A7D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290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73152" cy="1691640"/>
          </a:xfrm>
          <a:prstGeom prst="rect">
            <a:avLst/>
          </a:prstGeom>
          <a:solidFill>
            <a:srgbClr val="276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600200"/>
            <a:ext cx="3063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700" b="1">
                <a:solidFill>
                  <a:srgbClr val="111F39"/>
                </a:solidFill>
                <a:latin typeface="Aptos"/>
              </a:defRPr>
            </a:pPr>
            <a:r>
              <a:t>MERN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075688"/>
            <a:ext cx="306324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0">
                <a:solidFill>
                  <a:srgbClr val="5C6A7D"/>
                </a:solidFill>
                <a:latin typeface="Aptos"/>
              </a:defRPr>
            </a:pPr>
            <a:r>
              <a:t>Build a full-stack application using MongoDB, Express, React, and Node.js.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417320"/>
            <a:ext cx="34290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417320"/>
            <a:ext cx="73152" cy="1691640"/>
          </a:xfrm>
          <a:prstGeom prst="rect">
            <a:avLst/>
          </a:prstGeom>
          <a:solidFill>
            <a:srgbClr val="20A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1600200"/>
            <a:ext cx="3063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700" b="1">
                <a:solidFill>
                  <a:srgbClr val="111F39"/>
                </a:solidFill>
                <a:latin typeface="Aptos"/>
              </a:defRPr>
            </a:pPr>
            <a:r>
              <a:t>CRUD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2075688"/>
            <a:ext cx="306324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0">
                <a:solidFill>
                  <a:srgbClr val="5C6A7D"/>
                </a:solidFill>
                <a:latin typeface="Aptos"/>
              </a:defRPr>
            </a:pPr>
            <a:r>
              <a:t>Create, read, update, and manage road-damage reports.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1417320"/>
            <a:ext cx="34290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417320"/>
            <a:ext cx="73152" cy="1691640"/>
          </a:xfrm>
          <a:prstGeom prst="rect">
            <a:avLst/>
          </a:prstGeom>
          <a:solidFill>
            <a:srgbClr val="F29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22208" y="1600200"/>
            <a:ext cx="3063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700" b="1">
                <a:solidFill>
                  <a:srgbClr val="111F39"/>
                </a:solidFill>
                <a:latin typeface="Aptos"/>
              </a:defRPr>
            </a:pPr>
            <a:r>
              <a:t>REST APIs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8" y="2075688"/>
            <a:ext cx="306324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0">
                <a:solidFill>
                  <a:srgbClr val="5C6A7D"/>
                </a:solidFill>
                <a:latin typeface="Aptos"/>
              </a:defRPr>
            </a:pPr>
            <a:r>
              <a:t>Connect the React interface to backend endpoints.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566160"/>
            <a:ext cx="34290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3566160"/>
            <a:ext cx="73152" cy="1691640"/>
          </a:xfrm>
          <a:prstGeom prst="rect">
            <a:avLst/>
          </a:prstGeom>
          <a:solidFill>
            <a:srgbClr val="276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749040"/>
            <a:ext cx="3063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700" b="1">
                <a:solidFill>
                  <a:srgbClr val="111F39"/>
                </a:solidFill>
                <a:latin typeface="Aptos"/>
              </a:defRPr>
            </a:pPr>
            <a:r>
              <a:t>Access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224528"/>
            <a:ext cx="306324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0">
                <a:solidFill>
                  <a:srgbClr val="5C6A7D"/>
                </a:solidFill>
                <a:latin typeface="Aptos"/>
              </a:defRPr>
            </a:pPr>
            <a:r>
              <a:t>Support authentication and role-based access where required.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3566160"/>
            <a:ext cx="34290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80" y="3566160"/>
            <a:ext cx="73152" cy="1691640"/>
          </a:xfrm>
          <a:prstGeom prst="rect">
            <a:avLst/>
          </a:prstGeom>
          <a:solidFill>
            <a:srgbClr val="20A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27448" y="3749040"/>
            <a:ext cx="3063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700" b="1">
                <a:solidFill>
                  <a:srgbClr val="111F39"/>
                </a:solidFill>
                <a:latin typeface="Aptos"/>
              </a:defRPr>
            </a:pPr>
            <a:r>
              <a:t>Clear results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4224528"/>
            <a:ext cx="306324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0">
                <a:solidFill>
                  <a:srgbClr val="5C6A7D"/>
                </a:solidFill>
                <a:latin typeface="Aptos"/>
              </a:defRPr>
            </a:pPr>
            <a:r>
              <a:t>Display reports, descriptions, images, locations, and status.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3566160"/>
            <a:ext cx="34290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21040" y="3566160"/>
            <a:ext cx="73152" cy="1691640"/>
          </a:xfrm>
          <a:prstGeom prst="rect">
            <a:avLst/>
          </a:prstGeom>
          <a:solidFill>
            <a:srgbClr val="F29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22208" y="3749040"/>
            <a:ext cx="3063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700" b="1">
                <a:solidFill>
                  <a:srgbClr val="111F39"/>
                </a:solidFill>
                <a:latin typeface="Aptos"/>
              </a:defRPr>
            </a:pPr>
            <a:r>
              <a:t>Practical workflow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2208" y="4224528"/>
            <a:ext cx="306324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0">
                <a:solidFill>
                  <a:srgbClr val="5C6A7D"/>
                </a:solidFill>
                <a:latin typeface="Aptos"/>
              </a:defRPr>
            </a:pPr>
            <a:r>
              <a:t>Help users submit reports and staff track repair progress.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88136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700" b="1">
                <a:solidFill>
                  <a:srgbClr val="111F39"/>
                </a:solidFill>
                <a:latin typeface="Aptos"/>
              </a:defRPr>
            </a:pPr>
            <a:r>
              <a:t>3. Proposed System &amp;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41832"/>
            <a:ext cx="914400" cy="54864"/>
          </a:xfrm>
          <a:prstGeom prst="rect">
            <a:avLst/>
          </a:prstGeom>
          <a:solidFill>
            <a:srgbClr val="20A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000" b="1">
                <a:solidFill>
                  <a:srgbClr val="5C6A7D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" name="Oval 5"/>
          <p:cNvSpPr/>
          <p:nvPr/>
        </p:nvSpPr>
        <p:spPr>
          <a:xfrm>
            <a:off x="1508760" y="1508760"/>
            <a:ext cx="731520" cy="731520"/>
          </a:xfrm>
          <a:prstGeom prst="ellipse">
            <a:avLst/>
          </a:prstGeom>
          <a:solidFill>
            <a:srgbClr val="276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09928"/>
            <a:ext cx="7315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21945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800" b="1">
                <a:solidFill>
                  <a:srgbClr val="111F39"/>
                </a:solidFill>
                <a:latin typeface="Aptos"/>
              </a:defRPr>
            </a:pPr>
            <a:r>
              <a:t>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1800"/>
            <a:ext cx="2377440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400" b="0">
                <a:solidFill>
                  <a:srgbClr val="5C6A7D"/>
                </a:solidFill>
                <a:latin typeface="Aptos"/>
              </a:defRPr>
            </a:pPr>
            <a:r>
              <a:t>User enters location, damage type, description, and photo.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7190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400" b="1">
                <a:solidFill>
                  <a:srgbClr val="20AEA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1508760"/>
            <a:ext cx="731520" cy="731520"/>
          </a:xfrm>
          <a:prstGeom prst="ellipse">
            <a:avLst/>
          </a:prstGeom>
          <a:solidFill>
            <a:srgbClr val="20A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709928"/>
            <a:ext cx="7315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514600"/>
            <a:ext cx="21945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800" b="1">
                <a:solidFill>
                  <a:srgbClr val="111F39"/>
                </a:solidFill>
                <a:latin typeface="Aptos"/>
              </a:defRPr>
            </a:pPr>
            <a:r>
              <a:t>Submit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971800"/>
            <a:ext cx="2377440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400" b="0">
                <a:solidFill>
                  <a:srgbClr val="5C6A7D"/>
                </a:solidFill>
                <a:latin typeface="Aptos"/>
              </a:defRPr>
            </a:pPr>
            <a:r>
              <a:t>React sends the report to the Express REST API.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7190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400" b="1">
                <a:solidFill>
                  <a:srgbClr val="20AEA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Oval 15"/>
          <p:cNvSpPr/>
          <p:nvPr/>
        </p:nvSpPr>
        <p:spPr>
          <a:xfrm>
            <a:off x="7269480" y="1508760"/>
            <a:ext cx="731520" cy="731520"/>
          </a:xfrm>
          <a:prstGeom prst="ellipse">
            <a:avLst/>
          </a:prstGeom>
          <a:solidFill>
            <a:srgbClr val="F29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1709928"/>
            <a:ext cx="7315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2514600"/>
            <a:ext cx="21945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800" b="1">
                <a:solidFill>
                  <a:srgbClr val="111F39"/>
                </a:solidFill>
                <a:latin typeface="Aptos"/>
              </a:defRPr>
            </a:pPr>
            <a:r>
              <a:t>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71800"/>
            <a:ext cx="2377440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400" b="0">
                <a:solidFill>
                  <a:srgbClr val="5C6A7D"/>
                </a:solidFill>
                <a:latin typeface="Aptos"/>
              </a:defRPr>
            </a:pPr>
            <a:r>
              <a:t>Node.js validates data and saves it in MongoDB.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7190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400" b="1">
                <a:solidFill>
                  <a:srgbClr val="20AEA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Oval 20"/>
          <p:cNvSpPr/>
          <p:nvPr/>
        </p:nvSpPr>
        <p:spPr>
          <a:xfrm>
            <a:off x="10149840" y="1508760"/>
            <a:ext cx="731520" cy="731520"/>
          </a:xfrm>
          <a:prstGeom prst="ellipse">
            <a:avLst/>
          </a:prstGeom>
          <a:solidFill>
            <a:srgbClr val="276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0" y="1709928"/>
            <a:ext cx="7315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2514600"/>
            <a:ext cx="21945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800" b="1">
                <a:solidFill>
                  <a:srgbClr val="111F39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971800"/>
            <a:ext cx="2377440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400" b="0">
                <a:solidFill>
                  <a:srgbClr val="5C6A7D"/>
                </a:solidFill>
                <a:latin typeface="Aptos"/>
              </a:defRPr>
            </a:pPr>
            <a:r>
              <a:t>Authorized staff view reports and update status.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892040"/>
            <a:ext cx="10332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900" b="1">
                <a:solidFill>
                  <a:srgbClr val="111F39"/>
                </a:solidFill>
                <a:latin typeface="Aptos"/>
              </a:defRPr>
            </a:pPr>
            <a:r>
              <a:t>Outcome: one searchable place for reports, evidence, and repair-status updates.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88136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700" b="1">
                <a:solidFill>
                  <a:srgbClr val="111F39"/>
                </a:solidFill>
                <a:latin typeface="Aptos"/>
              </a:defRPr>
            </a:pPr>
            <a:r>
              <a:t>4. 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41832"/>
            <a:ext cx="914400" cy="54864"/>
          </a:xfrm>
          <a:prstGeom prst="rect">
            <a:avLst/>
          </a:prstGeom>
          <a:solidFill>
            <a:srgbClr val="20A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000" b="1">
                <a:solidFill>
                  <a:srgbClr val="5C6A7D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554480"/>
            <a:ext cx="251460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2514600" cy="146304"/>
          </a:xfrm>
          <a:prstGeom prst="rect">
            <a:avLst/>
          </a:prstGeom>
          <a:solidFill>
            <a:srgbClr val="276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21488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100" b="1">
                <a:solidFill>
                  <a:srgbClr val="111F39"/>
                </a:solidFill>
                <a:latin typeface="Aptos"/>
              </a:defRPr>
            </a:pPr>
            <a:r>
              <a:t>React.js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21488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500" b="1">
                <a:solidFill>
                  <a:srgbClr val="2768BE"/>
                </a:solidFill>
                <a:latin typeface="Aptos"/>
              </a:defRPr>
            </a:pPr>
            <a:r>
              <a:t>Frontend 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46120"/>
            <a:ext cx="20574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400" b="0">
                <a:solidFill>
                  <a:srgbClr val="5C6A7D"/>
                </a:solidFill>
                <a:latin typeface="Aptos"/>
              </a:defRPr>
            </a:pPr>
            <a:r>
              <a:t>Forms, report list, details, and status views.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554480"/>
            <a:ext cx="251460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554480"/>
            <a:ext cx="2514600" cy="146304"/>
          </a:xfrm>
          <a:prstGeom prst="rect">
            <a:avLst/>
          </a:prstGeom>
          <a:solidFill>
            <a:srgbClr val="20A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1965960"/>
            <a:ext cx="21488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100" b="1">
                <a:solidFill>
                  <a:srgbClr val="111F39"/>
                </a:solidFill>
                <a:latin typeface="Aptos"/>
              </a:defRPr>
            </a:pPr>
            <a:r>
              <a:t>Node.js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697480"/>
            <a:ext cx="21488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500" b="1">
                <a:solidFill>
                  <a:srgbClr val="20AEA4"/>
                </a:solidFill>
                <a:latin typeface="Aptos"/>
              </a:defRPr>
            </a:pPr>
            <a:r>
              <a:t>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3246120"/>
            <a:ext cx="20574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400" b="0">
                <a:solidFill>
                  <a:srgbClr val="5C6A7D"/>
                </a:solidFill>
                <a:latin typeface="Aptos"/>
              </a:defRPr>
            </a:pPr>
            <a:r>
              <a:t>Runs server-side JavaScript and application logic.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59" y="1554480"/>
            <a:ext cx="251460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37959" y="1554480"/>
            <a:ext cx="2514600" cy="146304"/>
          </a:xfrm>
          <a:prstGeom prst="rect">
            <a:avLst/>
          </a:prstGeom>
          <a:solidFill>
            <a:srgbClr val="F29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1965960"/>
            <a:ext cx="21488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100" b="1">
                <a:solidFill>
                  <a:srgbClr val="111F39"/>
                </a:solidFill>
                <a:latin typeface="Aptos"/>
              </a:defRPr>
            </a:pPr>
            <a:r>
              <a:t>Express.js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697480"/>
            <a:ext cx="21488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500" b="1">
                <a:solidFill>
                  <a:srgbClr val="F29B41"/>
                </a:solidFill>
                <a:latin typeface="Aptos"/>
              </a:defRPr>
            </a:pPr>
            <a:r>
              <a:t>Backend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59" y="3246120"/>
            <a:ext cx="20574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400" b="0">
                <a:solidFill>
                  <a:srgbClr val="5C6A7D"/>
                </a:solidFill>
                <a:latin typeface="Aptos"/>
              </a:defRPr>
            </a:pPr>
            <a:r>
              <a:t>Defines REST endpoints and handles requests.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19" y="1554480"/>
            <a:ext cx="251460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18319" y="1554480"/>
            <a:ext cx="2514600" cy="146304"/>
          </a:xfrm>
          <a:prstGeom prst="rect">
            <a:avLst/>
          </a:prstGeom>
          <a:solidFill>
            <a:srgbClr val="276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199" y="1965960"/>
            <a:ext cx="21488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100" b="1">
                <a:solidFill>
                  <a:srgbClr val="111F39"/>
                </a:solidFill>
                <a:latin typeface="Aptos"/>
              </a:defRPr>
            </a:pPr>
            <a:r>
              <a:t>MongoDB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199" y="2697480"/>
            <a:ext cx="21488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500" b="1">
                <a:solidFill>
                  <a:srgbClr val="2768BE"/>
                </a:solidFill>
                <a:latin typeface="Aptos"/>
              </a:defRPr>
            </a:pPr>
            <a:r>
              <a:t>Database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19" y="3246120"/>
            <a:ext cx="20574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400" b="0">
                <a:solidFill>
                  <a:srgbClr val="5C6A7D"/>
                </a:solidFill>
                <a:latin typeface="Aptos"/>
              </a:defRPr>
            </a:pPr>
            <a:r>
              <a:t>Stores reports, users, image references, and status.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349240"/>
            <a:ext cx="101498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400" b="0">
                <a:solidFill>
                  <a:srgbClr val="5C6A7D"/>
                </a:solidFill>
                <a:latin typeface="Aptos"/>
              </a:defRPr>
            </a:pPr>
            <a:r>
              <a:t>Optional: use a file-storage service for uploaded images and store the image URL in MongoDB.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88136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700" b="1">
                <a:solidFill>
                  <a:srgbClr val="111F39"/>
                </a:solidFill>
                <a:latin typeface="Aptos"/>
              </a:defRPr>
            </a:pPr>
            <a:r>
              <a:t>5. Main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41832"/>
            <a:ext cx="914400" cy="54864"/>
          </a:xfrm>
          <a:prstGeom prst="rect">
            <a:avLst/>
          </a:prstGeom>
          <a:solidFill>
            <a:srgbClr val="20A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000" b="1">
                <a:solidFill>
                  <a:srgbClr val="5C6A7D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424160" cy="4480560"/>
          </a:xfrm>
          <a:prstGeom prst="rect">
            <a:avLst/>
          </a:prstGeom>
          <a:noFill/>
        </p:spPr>
        <p:txBody>
          <a:bodyPr wrap="square" lIns="45720" rIns="45720" bIns="18288">
            <a:spAutoFit/>
          </a:bodyPr>
          <a:lstStyle/>
          <a:p>
            <a:pPr>
              <a:spcAft>
                <a:spcPts val="1700"/>
              </a:spcAft>
              <a:defRPr sz="1800">
                <a:solidFill>
                  <a:srgbClr val="232D3C"/>
                </a:solidFill>
                <a:latin typeface="Aptos"/>
              </a:defRPr>
            </a:pPr>
            <a:r>
              <a:t>Report damage: select pothole, crack, broken surface, or other damage.</a:t>
            </a:r>
          </a:p>
          <a:p>
            <a:pPr>
              <a:spcAft>
                <a:spcPts val="1700"/>
              </a:spcAft>
              <a:defRPr sz="1800">
                <a:solidFill>
                  <a:srgbClr val="232D3C"/>
                </a:solidFill>
                <a:latin typeface="Aptos"/>
              </a:defRPr>
            </a:pPr>
            <a:r>
              <a:t>Add evidence: upload a photo and write a short description.</a:t>
            </a:r>
          </a:p>
          <a:p>
            <a:pPr>
              <a:spcAft>
                <a:spcPts val="1700"/>
              </a:spcAft>
              <a:defRPr sz="1800">
                <a:solidFill>
                  <a:srgbClr val="232D3C"/>
                </a:solidFill>
                <a:latin typeface="Aptos"/>
              </a:defRPr>
            </a:pPr>
            <a:r>
              <a:t>Location details: enter an address or use available map/GPS integration.</a:t>
            </a:r>
          </a:p>
          <a:p>
            <a:pPr>
              <a:spcAft>
                <a:spcPts val="1700"/>
              </a:spcAft>
              <a:defRPr sz="1800">
                <a:solidFill>
                  <a:srgbClr val="232D3C"/>
                </a:solidFill>
                <a:latin typeface="Aptos"/>
              </a:defRPr>
            </a:pPr>
            <a:r>
              <a:t>Browse reports: view report cards with image, type, location, and date.</a:t>
            </a:r>
          </a:p>
          <a:p>
            <a:pPr>
              <a:spcAft>
                <a:spcPts val="1700"/>
              </a:spcAft>
              <a:defRPr sz="1800">
                <a:solidFill>
                  <a:srgbClr val="232D3C"/>
                </a:solidFill>
                <a:latin typeface="Aptos"/>
              </a:defRPr>
            </a:pPr>
            <a:r>
              <a:t>Track progress: statuses such as Pending, In Review, In Progress, and Resolved.</a:t>
            </a:r>
          </a:p>
          <a:p>
            <a:pPr>
              <a:spcAft>
                <a:spcPts val="1700"/>
              </a:spcAft>
              <a:defRPr sz="1800">
                <a:solidFill>
                  <a:srgbClr val="232D3C"/>
                </a:solidFill>
                <a:latin typeface="Aptos"/>
              </a:defRPr>
            </a:pPr>
            <a:r>
              <a:t>Admin tools: review reports, edit details, and manage report records.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88136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700" b="1">
                <a:solidFill>
                  <a:srgbClr val="111F39"/>
                </a:solidFill>
                <a:latin typeface="Aptos"/>
              </a:defRPr>
            </a:pPr>
            <a:r>
              <a:t>6. MongoDB Data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41832"/>
            <a:ext cx="914400" cy="54864"/>
          </a:xfrm>
          <a:prstGeom prst="rect">
            <a:avLst/>
          </a:prstGeom>
          <a:solidFill>
            <a:srgbClr val="20A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000" b="1">
                <a:solidFill>
                  <a:srgbClr val="5C6A7D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75488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000" b="1">
                <a:solidFill>
                  <a:srgbClr val="2768BE"/>
                </a:solidFill>
                <a:latin typeface="Aptos"/>
              </a:defRPr>
            </a:pPr>
            <a:r>
              <a:t>Collection: roadReports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493776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01952"/>
            <a:ext cx="1828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111F39"/>
                </a:solidFill>
                <a:latin typeface="Aptos"/>
              </a:defRPr>
            </a:pPr>
            <a:r>
              <a:t>title /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901952"/>
            <a:ext cx="2788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100" b="0">
                <a:solidFill>
                  <a:srgbClr val="5C6A7D"/>
                </a:solidFill>
                <a:latin typeface="Aptos"/>
              </a:defRPr>
            </a:pPr>
            <a:r>
              <a:t>Text describing the damage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86584"/>
            <a:ext cx="493776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505456"/>
            <a:ext cx="1828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111F39"/>
                </a:solidFill>
                <a:latin typeface="Aptos"/>
              </a:defRPr>
            </a:pPr>
            <a:r>
              <a:t>damageType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505456"/>
            <a:ext cx="2788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100" b="0">
                <a:solidFill>
                  <a:srgbClr val="5C6A7D"/>
                </a:solidFill>
                <a:latin typeface="Aptos"/>
              </a:defRPr>
            </a:pPr>
            <a:r>
              <a:t>Pothole, crack, surface damage, other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0088"/>
            <a:ext cx="493776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108960"/>
            <a:ext cx="1828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111F39"/>
                </a:solidFill>
                <a:latin typeface="Aptos"/>
              </a:defRPr>
            </a:pPr>
            <a:r>
              <a:t>location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108960"/>
            <a:ext cx="2788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100" b="0">
                <a:solidFill>
                  <a:srgbClr val="5C6A7D"/>
                </a:solidFill>
                <a:latin typeface="Aptos"/>
              </a:defRPr>
            </a:pPr>
            <a:r>
              <a:t>Address and optional latitude/longitude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593591"/>
            <a:ext cx="493776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712463"/>
            <a:ext cx="1828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111F39"/>
                </a:solidFill>
                <a:latin typeface="Aptos"/>
              </a:defRPr>
            </a:pPr>
            <a:r>
              <a:t>imageUrl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712463"/>
            <a:ext cx="2788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100" b="0">
                <a:solidFill>
                  <a:srgbClr val="5C6A7D"/>
                </a:solidFill>
                <a:latin typeface="Aptos"/>
              </a:defRPr>
            </a:pPr>
            <a:r>
              <a:t>Stored image link or file reference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197096"/>
            <a:ext cx="493776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315968"/>
            <a:ext cx="1828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111F39"/>
                </a:solidFill>
                <a:latin typeface="Aptos"/>
              </a:defRPr>
            </a:pPr>
            <a: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315968"/>
            <a:ext cx="2788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100" b="0">
                <a:solidFill>
                  <a:srgbClr val="5C6A7D"/>
                </a:solidFill>
                <a:latin typeface="Aptos"/>
              </a:defRPr>
            </a:pPr>
            <a:r>
              <a:t>Pending, In Review, In Progress, Resolved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4937760" cy="475488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919472"/>
            <a:ext cx="1828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1">
                <a:solidFill>
                  <a:srgbClr val="111F39"/>
                </a:solidFill>
                <a:latin typeface="Aptos"/>
              </a:defRPr>
            </a:pPr>
            <a:r>
              <a:t>createdBy / timestamps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919472"/>
            <a:ext cx="2788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100" b="0">
                <a:solidFill>
                  <a:srgbClr val="5C6A7D"/>
                </a:solidFill>
                <a:latin typeface="Aptos"/>
              </a:defRPr>
            </a:pPr>
            <a:r>
              <a:t>Reporter reference and created/updated dates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417320"/>
            <a:ext cx="46634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800" b="1">
                <a:solidFill>
                  <a:srgbClr val="111F39"/>
                </a:solidFill>
                <a:latin typeface="Aptos"/>
              </a:defRPr>
            </a:pPr>
            <a:r>
              <a:t>Example report document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1965960"/>
            <a:ext cx="4800600" cy="2880360"/>
          </a:xfrm>
          <a:prstGeom prst="roundRect">
            <a:avLst/>
          </a:prstGeom>
          <a:solidFill>
            <a:srgbClr val="111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2240280"/>
            <a:ext cx="4297680" cy="2331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500" b="0">
                <a:solidFill>
                  <a:srgbClr val="E1EBF8"/>
                </a:solidFill>
                <a:latin typeface="Consolas"/>
              </a:defRPr>
            </a:pPr>
            <a:r>
              <a:t>{\n  "damageType": "Pothole",\n  "description": "Large pothole near the junction",\n  "location": { "address": "Main Road" },\n  "imageUrl": "/uploads/report-01.jpg",\n  "status": "Pending"\n}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88136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700" b="1">
                <a:solidFill>
                  <a:srgbClr val="111F39"/>
                </a:solidFill>
                <a:latin typeface="Aptos"/>
              </a:defRPr>
            </a:pPr>
            <a:r>
              <a:t>7. REST API &amp; CRUD Operations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41832"/>
            <a:ext cx="914400" cy="54864"/>
          </a:xfrm>
          <a:prstGeom prst="rect">
            <a:avLst/>
          </a:prstGeom>
          <a:solidFill>
            <a:srgbClr val="20A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000" b="1">
                <a:solidFill>
                  <a:srgbClr val="5C6A7D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53312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1">
                <a:solidFill>
                  <a:srgbClr val="20AEA4"/>
                </a:solidFill>
                <a:latin typeface="Aptos"/>
              </a:defRPr>
            </a:pPr>
            <a:r>
              <a:t>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353312"/>
            <a:ext cx="32004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1">
                <a:solidFill>
                  <a:srgbClr val="20AEA4"/>
                </a:solidFill>
                <a:latin typeface="Aptos"/>
              </a:defRPr>
            </a:pPr>
            <a:r>
              <a:t>ENDPOINT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1353312"/>
            <a:ext cx="51206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1">
                <a:solidFill>
                  <a:srgbClr val="20AEA4"/>
                </a:solidFill>
                <a:latin typeface="Aptos"/>
              </a:defRPr>
            </a:pPr>
            <a:r>
              <a:t>PURPOSE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783080"/>
            <a:ext cx="105156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38528"/>
            <a:ext cx="10058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1">
                <a:solidFill>
                  <a:srgbClr val="2768BE"/>
                </a:solidFill>
                <a:latin typeface="Aptos"/>
              </a:defRPr>
            </a:pPr>
            <a:r>
              <a:t>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938528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1">
                <a:solidFill>
                  <a:srgbClr val="111F39"/>
                </a:solidFill>
                <a:latin typeface="Consolas"/>
              </a:defRPr>
            </a:pPr>
            <a:r>
              <a:t>/api/reports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1938528"/>
            <a:ext cx="5303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0">
                <a:solidFill>
                  <a:srgbClr val="5C6A7D"/>
                </a:solidFill>
                <a:latin typeface="Aptos"/>
              </a:defRPr>
            </a:pPr>
            <a:r>
              <a:t>Create a new damage report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32888"/>
            <a:ext cx="105156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688336"/>
            <a:ext cx="10058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1">
                <a:solidFill>
                  <a:srgbClr val="2768BE"/>
                </a:solidFill>
                <a:latin typeface="Aptos"/>
              </a:defRPr>
            </a:pPr>
            <a:r>
              <a:t>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2688336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1">
                <a:solidFill>
                  <a:srgbClr val="111F39"/>
                </a:solidFill>
                <a:latin typeface="Consolas"/>
              </a:defRPr>
            </a:pPr>
            <a:r>
              <a:t>/api/reports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688336"/>
            <a:ext cx="5303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0">
                <a:solidFill>
                  <a:srgbClr val="5C6A7D"/>
                </a:solidFill>
                <a:latin typeface="Aptos"/>
              </a:defRPr>
            </a:pPr>
            <a:r>
              <a:t>List reports; support filters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82696"/>
            <a:ext cx="105156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38144"/>
            <a:ext cx="10058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1">
                <a:solidFill>
                  <a:srgbClr val="2768BE"/>
                </a:solidFill>
                <a:latin typeface="Aptos"/>
              </a:defRPr>
            </a:pPr>
            <a:r>
              <a:t>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3438144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1">
                <a:solidFill>
                  <a:srgbClr val="111F39"/>
                </a:solidFill>
                <a:latin typeface="Consolas"/>
              </a:defRPr>
            </a:pPr>
            <a:r>
              <a:t>/api/reports/:id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3438144"/>
            <a:ext cx="5303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0">
                <a:solidFill>
                  <a:srgbClr val="5C6A7D"/>
                </a:solidFill>
                <a:latin typeface="Aptos"/>
              </a:defRPr>
            </a:pPr>
            <a:r>
              <a:t>View one report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032504"/>
            <a:ext cx="105156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87952"/>
            <a:ext cx="10058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1">
                <a:solidFill>
                  <a:srgbClr val="2768BE"/>
                </a:solidFill>
                <a:latin typeface="Aptos"/>
              </a:defRPr>
            </a:pPr>
            <a:r>
              <a:t>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80" y="4187952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1">
                <a:solidFill>
                  <a:srgbClr val="111F39"/>
                </a:solidFill>
                <a:latin typeface="Consolas"/>
              </a:defRPr>
            </a:pPr>
            <a:r>
              <a:t>/api/reports/:id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4187952"/>
            <a:ext cx="5303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0">
                <a:solidFill>
                  <a:srgbClr val="5C6A7D"/>
                </a:solidFill>
                <a:latin typeface="Aptos"/>
              </a:defRPr>
            </a:pPr>
            <a:r>
              <a:t>Update report details or status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782312"/>
            <a:ext cx="105156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937759"/>
            <a:ext cx="10058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1">
                <a:solidFill>
                  <a:srgbClr val="2768BE"/>
                </a:solidFill>
                <a:latin typeface="Aptos"/>
              </a:defRPr>
            </a:pPr>
            <a:r>
              <a:t>DELETE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4937759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1">
                <a:solidFill>
                  <a:srgbClr val="111F39"/>
                </a:solidFill>
                <a:latin typeface="Consolas"/>
              </a:defRPr>
            </a:pPr>
            <a:r>
              <a:t>/api/reports/:id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4937759"/>
            <a:ext cx="5303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0">
                <a:solidFill>
                  <a:srgbClr val="5C6A7D"/>
                </a:solidFill>
                <a:latin typeface="Aptos"/>
              </a:defRPr>
            </a:pPr>
            <a:r>
              <a:t>Remove a report if permitted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897880"/>
            <a:ext cx="10241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0">
                <a:solidFill>
                  <a:srgbClr val="5C6A7D"/>
                </a:solidFill>
                <a:latin typeface="Aptos"/>
              </a:defRPr>
            </a:pPr>
            <a:r>
              <a:t>Use validation, consistent error responses, and authorization for protected operations.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88136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700" b="1">
                <a:solidFill>
                  <a:srgbClr val="111F39"/>
                </a:solidFill>
                <a:latin typeface="Aptos"/>
              </a:defRPr>
            </a:pPr>
            <a:r>
              <a:t>8. Authentication, Security &amp; 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41832"/>
            <a:ext cx="914400" cy="54864"/>
          </a:xfrm>
          <a:prstGeom prst="rect">
            <a:avLst/>
          </a:prstGeom>
          <a:solidFill>
            <a:srgbClr val="20A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000" b="1">
                <a:solidFill>
                  <a:srgbClr val="5C6A7D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1732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417320"/>
            <a:ext cx="73152" cy="1828800"/>
          </a:xfrm>
          <a:prstGeom prst="rect">
            <a:avLst/>
          </a:prstGeom>
          <a:solidFill>
            <a:srgbClr val="276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600200"/>
            <a:ext cx="3063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700" b="1">
                <a:solidFill>
                  <a:srgbClr val="111F39"/>
                </a:solidFill>
                <a:latin typeface="Aptos"/>
              </a:defRPr>
            </a:pPr>
            <a:r>
              <a:t>Authentication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075688"/>
            <a:ext cx="3063240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0">
                <a:solidFill>
                  <a:srgbClr val="5C6A7D"/>
                </a:solidFill>
                <a:latin typeface="Aptos"/>
              </a:defRPr>
            </a:pPr>
            <a:r>
              <a:t>Use login and hashed passwords; issue a secure session or token.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1732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417320"/>
            <a:ext cx="73152" cy="1828800"/>
          </a:xfrm>
          <a:prstGeom prst="rect">
            <a:avLst/>
          </a:prstGeom>
          <a:solidFill>
            <a:srgbClr val="20A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600200"/>
            <a:ext cx="3063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700" b="1">
                <a:solidFill>
                  <a:srgbClr val="111F39"/>
                </a:solidFill>
                <a:latin typeface="Aptos"/>
              </a:defRPr>
            </a:pPr>
            <a:r>
              <a:t>Role-based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075688"/>
            <a:ext cx="3063240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0">
                <a:solidFill>
                  <a:srgbClr val="5C6A7D"/>
                </a:solidFill>
                <a:latin typeface="Aptos"/>
              </a:defRPr>
            </a:pPr>
            <a:r>
              <a:t>Citizen: submit/view reports. Admin: review, update, and manage.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417320"/>
            <a:ext cx="3429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E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1417320"/>
            <a:ext cx="73152" cy="1828800"/>
          </a:xfrm>
          <a:prstGeom prst="rect">
            <a:avLst/>
          </a:prstGeom>
          <a:solidFill>
            <a:srgbClr val="F29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1600200"/>
            <a:ext cx="3063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700" b="1">
                <a:solidFill>
                  <a:srgbClr val="111F39"/>
                </a:solidFill>
                <a:latin typeface="Aptos"/>
              </a:defRPr>
            </a:pPr>
            <a:r>
              <a:t>Data safety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075688"/>
            <a:ext cx="3063240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300" b="0">
                <a:solidFill>
                  <a:srgbClr val="5C6A7D"/>
                </a:solidFill>
                <a:latin typeface="Aptos"/>
              </a:defRPr>
            </a:pPr>
            <a:r>
              <a:t>Validate inputs, limit upload types/sizes, and protect private routes.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794760"/>
            <a:ext cx="103327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900" b="1">
                <a:solidFill>
                  <a:srgbClr val="111F39"/>
                </a:solidFill>
                <a:latin typeface="Aptos"/>
              </a:defRPr>
            </a:pPr>
            <a:r>
              <a:t>Testing checklist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1960"/>
            <a:ext cx="10241280" cy="1828800"/>
          </a:xfrm>
          <a:prstGeom prst="rect">
            <a:avLst/>
          </a:prstGeom>
          <a:noFill/>
        </p:spPr>
        <p:txBody>
          <a:bodyPr wrap="square" lIns="45720" rIns="45720" bIns="18288">
            <a:spAutoFit/>
          </a:bodyPr>
          <a:lstStyle/>
          <a:p>
            <a:pPr>
              <a:spcAft>
                <a:spcPts val="1700"/>
              </a:spcAft>
              <a:defRPr sz="1500">
                <a:solidFill>
                  <a:srgbClr val="232D3C"/>
                </a:solidFill>
                <a:latin typeface="Aptos"/>
              </a:defRPr>
            </a:pPr>
            <a:r>
              <a:t>Submit a report with valid details and an image.</a:t>
            </a:r>
          </a:p>
          <a:p>
            <a:pPr>
              <a:spcAft>
                <a:spcPts val="1700"/>
              </a:spcAft>
              <a:defRPr sz="1500">
                <a:solidFill>
                  <a:srgbClr val="232D3C"/>
                </a:solidFill>
                <a:latin typeface="Aptos"/>
              </a:defRPr>
            </a:pPr>
            <a:r>
              <a:t>Confirm report data is saved and displayed correctly.</a:t>
            </a:r>
          </a:p>
          <a:p>
            <a:pPr>
              <a:spcAft>
                <a:spcPts val="1700"/>
              </a:spcAft>
              <a:defRPr sz="1500">
                <a:solidFill>
                  <a:srgbClr val="232D3C"/>
                </a:solidFill>
                <a:latin typeface="Aptos"/>
              </a:defRPr>
            </a:pPr>
            <a:r>
              <a:t>Test update/delete permissions and invalid input handling.</a:t>
            </a:r>
          </a:p>
          <a:p>
            <a:pPr>
              <a:spcAft>
                <a:spcPts val="1700"/>
              </a:spcAft>
              <a:defRPr sz="1500">
                <a:solidFill>
                  <a:srgbClr val="232D3C"/>
                </a:solidFill>
                <a:latin typeface="Aptos"/>
              </a:defRPr>
            </a:pPr>
            <a:r>
              <a:t>Check layout on desktop and mobile screens.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33272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ptos"/>
              </a:defRPr>
            </a:pPr>
            <a:r>
              <a:t>9. Conclusion &amp; Future Enhancements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89888"/>
            <a:ext cx="914400" cy="54864"/>
          </a:xfrm>
          <a:prstGeom prst="rect">
            <a:avLst/>
          </a:prstGeom>
          <a:solidFill>
            <a:srgbClr val="20A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50292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900" b="1">
                <a:solidFill>
                  <a:srgbClr val="20AEA4"/>
                </a:solidFill>
                <a:latin typeface="Aptos"/>
              </a:defRPr>
            </a:pPr>
            <a:r>
              <a:t>Project 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4937760" cy="2286000"/>
          </a:xfrm>
          <a:prstGeom prst="rect">
            <a:avLst/>
          </a:prstGeom>
          <a:noFill/>
        </p:spPr>
        <p:txBody>
          <a:bodyPr wrap="square" lIns="45720" rIns="45720" bIns="18288">
            <a:spAutoFit/>
          </a:bodyPr>
          <a:lstStyle/>
          <a:p>
            <a:pPr>
              <a:spcAft>
                <a:spcPts val="17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A central platform for road-damage reporting.</a:t>
            </a:r>
          </a:p>
          <a:p>
            <a:pPr>
              <a:spcAft>
                <a:spcPts val="17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CRUD APIs backed by MongoDB.</a:t>
            </a:r>
          </a:p>
          <a:p>
            <a:pPr>
              <a:spcAft>
                <a:spcPts val="17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Clear report status and evidence for follow-up.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83080"/>
            <a:ext cx="45720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900" b="1">
                <a:solidFill>
                  <a:srgbClr val="20AEA4"/>
                </a:solidFill>
                <a:latin typeface="Aptos"/>
              </a:defRPr>
            </a:pPr>
            <a:r>
              <a:t>Future enhancements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31720"/>
            <a:ext cx="4846320" cy="2286000"/>
          </a:xfrm>
          <a:prstGeom prst="rect">
            <a:avLst/>
          </a:prstGeom>
          <a:noFill/>
        </p:spPr>
        <p:txBody>
          <a:bodyPr wrap="square" lIns="45720" rIns="45720" bIns="18288">
            <a:spAutoFit/>
          </a:bodyPr>
          <a:lstStyle/>
          <a:p>
            <a:pPr>
              <a:spcAft>
                <a:spcPts val="17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Map view and GPS-assisted reporting.</a:t>
            </a:r>
          </a:p>
          <a:p>
            <a:pPr>
              <a:spcAft>
                <a:spcPts val="17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Duplicate-report detection and priority levels.</a:t>
            </a:r>
          </a:p>
          <a:p>
            <a:pPr>
              <a:spcAft>
                <a:spcPts val="1700"/>
              </a:spcAft>
              <a:defRPr sz="1700">
                <a:solidFill>
                  <a:srgbClr val="FFFFFF"/>
                </a:solidFill>
                <a:latin typeface="Aptos"/>
              </a:defRPr>
            </a:pPr>
            <a:r>
              <a:t>Email/SMS notifications and analytics dashboard.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806440"/>
            <a:ext cx="103327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Aptos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